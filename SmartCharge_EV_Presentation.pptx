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00A8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E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C98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Hour</c:v>
                  </c:pt>
                  <c:pt idx="1">
                    <c:v>Day</c:v>
                  </c:pt>
                  <c:pt idx="2">
                    <c:v>Temp</c:v>
                  </c:pt>
                  <c:pt idx="3">
                    <c:v>Rain</c:v>
                  </c:pt>
                  <c:pt idx="4">
                    <c:v>Combined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48</c:v>
                </c:pt>
                <c:pt idx="2">
                  <c:v>55</c:v>
                </c:pt>
                <c:pt idx="3">
                  <c:v>38</c:v>
                </c:pt>
                <c:pt idx="4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C1F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Availability %</c:v>
                </c:pt>
              </c:strCache>
            </c:strRef>
          </c:tx>
          <c:spPr>
            <a:solidFill>
              <a:srgbClr val="00C98C"/>
            </a:solidFill>
            <a:ln w="25400" cap="flat">
              <a:solidFill>
                <a:srgbClr val="00C9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98C"/>
              </a:solidFill>
              <a:ln w="9525" cap="flat">
                <a:solidFill>
                  <a:srgbClr val="00C9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90</c:v>
                </c:pt>
                <c:pt idx="1">
                  <c:v>91</c:v>
                </c:pt>
                <c:pt idx="2">
                  <c:v>92</c:v>
                </c:pt>
                <c:pt idx="3">
                  <c:v>93</c:v>
                </c:pt>
                <c:pt idx="4">
                  <c:v>88</c:v>
                </c:pt>
                <c:pt idx="5">
                  <c:v>80</c:v>
                </c:pt>
                <c:pt idx="6">
                  <c:v>65</c:v>
                </c:pt>
                <c:pt idx="7">
                  <c:v>55</c:v>
                </c:pt>
                <c:pt idx="8">
                  <c:v>52</c:v>
                </c:pt>
                <c:pt idx="9">
                  <c:v>58</c:v>
                </c:pt>
                <c:pt idx="10">
                  <c:v>65</c:v>
                </c:pt>
                <c:pt idx="11">
                  <c:v>58</c:v>
                </c:pt>
                <c:pt idx="12">
                  <c:v>48</c:v>
                </c:pt>
                <c:pt idx="13">
                  <c:v>50</c:v>
                </c:pt>
                <c:pt idx="14">
                  <c:v>52</c:v>
                </c:pt>
                <c:pt idx="15">
                  <c:v>55</c:v>
                </c:pt>
                <c:pt idx="16">
                  <c:v>60</c:v>
                </c:pt>
                <c:pt idx="17">
                  <c:v>62</c:v>
                </c:pt>
                <c:pt idx="18">
                  <c:v>65</c:v>
                </c:pt>
                <c:pt idx="19">
                  <c:v>70</c:v>
                </c:pt>
                <c:pt idx="20">
                  <c:v>75</c:v>
                </c:pt>
                <c:pt idx="21">
                  <c:v>82</c:v>
                </c:pt>
                <c:pt idx="22">
                  <c:v>87</c:v>
                </c:pt>
                <c:pt idx="23">
                  <c:v>89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C1F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Busy Level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98C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307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307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0307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(40%)</c:v>
                </c:pt>
                <c:pt idx="1">
                  <c:v>Medium (35%)</c:v>
                </c:pt>
                <c:pt idx="2">
                  <c:v>High (25%)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0C1F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C9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9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Hour</c:v>
                  </c:pt>
                  <c:pt idx="1">
                    <c:v>Temp</c:v>
                  </c:pt>
                  <c:pt idx="2">
                    <c:v>Day</c:v>
                  </c:pt>
                  <c:pt idx="3">
                    <c:v>Rain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31</c:v>
                </c:pt>
                <c:pt idx="2">
                  <c:v>13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C1F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1463040" cy="1463040"/>
          </a:xfrm>
          <a:prstGeom prst="ellipse">
            <a:avLst/>
          </a:prstGeom>
          <a:solidFill>
            <a:srgbClr val="0D2137"/>
          </a:solidFill>
          <a:ln w="25400">
            <a:solidFill>
              <a:srgbClr val="00C9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96012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⚡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EV Charging Station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Prediction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 ·  Real-Time GPS  ·  All-India Coverage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389120"/>
            <a:ext cx="18288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4389120"/>
            <a:ext cx="18288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4389120"/>
            <a:ext cx="18288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4389120"/>
            <a:ext cx="18288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Presentation  |  Department of Computer Science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468880" cy="256032"/>
          </a:xfrm>
          <a:prstGeom prst="rect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0" y="822960"/>
            <a:ext cx="2103120" cy="2103120"/>
          </a:xfrm>
          <a:prstGeom prst="ellipse">
            <a:avLst/>
          </a:prstGeom>
          <a:solidFill>
            <a:srgbClr val="120D2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86868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😰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468880" cy="2560320"/>
          </a:xfrm>
          <a:prstGeom prst="rect">
            <a:avLst/>
          </a:prstGeom>
          <a:solidFill>
            <a:srgbClr val="1E2A3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drivers don't know if a charging station is free before travelling to 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371600"/>
            <a:ext cx="2468880" cy="2560320"/>
          </a:xfrm>
          <a:prstGeom prst="rect">
            <a:avLst/>
          </a:prstGeom>
          <a:solidFill>
            <a:srgbClr val="1E2A3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5468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5468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5146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cause congestion, leading to 15–30 min wait times at stations.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1371600"/>
            <a:ext cx="2468880" cy="2560320"/>
          </a:xfrm>
          <a:prstGeom prst="rect">
            <a:avLst/>
          </a:prstGeom>
          <a:solidFill>
            <a:srgbClr val="1E2A3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😟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85216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Anxiety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25146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data causes drivers to avoid EVs due to fear of running out of charge.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0A2E22"/>
          </a:solidFill>
          <a:ln w="19050">
            <a:solidFill>
              <a:srgbClr val="00C9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3308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Solution: 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4133088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 + Real-Time GPS to predict availability and recommend the best nearby charging station — before you travel.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651760" cy="256032"/>
          </a:xfrm>
          <a:prstGeom prst="rect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PROJECT DESCRIPTION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65960" cy="2926080"/>
          </a:xfrm>
          <a:prstGeom prst="rect">
            <a:avLst/>
          </a:prstGeom>
          <a:solidFill>
            <a:srgbClr val="142233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325880"/>
            <a:ext cx="594360" cy="594360"/>
          </a:xfrm>
          <a:prstGeom prst="ellipse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Input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03580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shares GPS location or selects a city from dropdown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77440" y="2606040"/>
            <a:ext cx="73152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6856" y="251460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8C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14600" y="1234440"/>
            <a:ext cx="1965960" cy="2926080"/>
          </a:xfrm>
          <a:prstGeom prst="rect">
            <a:avLst/>
          </a:prstGeom>
          <a:solidFill>
            <a:srgbClr val="142233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25880"/>
            <a:ext cx="594360" cy="594360"/>
          </a:xfrm>
          <a:prstGeom prst="ellipse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1965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🌡️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06040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Input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06040" y="303580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hour, day of week, temperature, and rain status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26280" y="2606040"/>
            <a:ext cx="73152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25696" y="251460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8C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63440" y="1234440"/>
            <a:ext cx="1965960" cy="2926080"/>
          </a:xfrm>
          <a:prstGeom prst="rect">
            <a:avLst/>
          </a:prstGeom>
          <a:solidFill>
            <a:srgbClr val="142233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49240" y="1325880"/>
            <a:ext cx="594360" cy="594360"/>
          </a:xfrm>
          <a:prstGeom prst="ellipse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1965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754880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303580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predicts availability %; Decision Tree classifies congestion level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75120" y="2606040"/>
            <a:ext cx="73152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4536" y="251460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8C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812280" y="1234440"/>
            <a:ext cx="1965960" cy="2926080"/>
          </a:xfrm>
          <a:prstGeom prst="rect">
            <a:avLst/>
          </a:prstGeom>
          <a:solidFill>
            <a:srgbClr val="142233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1325880"/>
            <a:ext cx="594360" cy="594360"/>
          </a:xfrm>
          <a:prstGeom prst="ellipse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1965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903720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Result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903720" y="3035808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nearest stations ranked by score = distance + busy level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3736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Interactive Leaflet Map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1188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Smart AI Suggestions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Wait Time Estimate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6092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Google Maps Directions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651760" cy="256032"/>
          </a:xfrm>
          <a:prstGeom prst="rect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MODELS &amp; ALGORITHMS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0C1F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71600"/>
            <a:ext cx="685800" cy="685800"/>
          </a:xfrm>
          <a:prstGeom prst="ellipse">
            <a:avLst/>
          </a:prstGeom>
          <a:solidFill>
            <a:srgbClr val="0A2E22"/>
          </a:solidFill>
          <a:ln w="19050">
            <a:solidFill>
              <a:srgbClr val="00C9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Supervised Regression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48716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Predicts: Availability % (0–100)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825496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Hour, Day, Temp, Rain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163824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Trees: 100 estimators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50215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MAE ≈ 3.2%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→ averages results for accuracy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3931920" cy="3474720"/>
          </a:xfrm>
          <a:prstGeom prst="rect">
            <a:avLst/>
          </a:prstGeom>
          <a:solidFill>
            <a:srgbClr val="0C1F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371600"/>
            <a:ext cx="685800" cy="685800"/>
          </a:xfrm>
          <a:prstGeom prst="ellipse">
            <a:avLst/>
          </a:prstGeom>
          <a:solidFill>
            <a:srgbClr val="1A1535"/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🌳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0" y="1417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Supervised Classification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248716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Predicts: Low / Medium / High congestion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2825496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Hour, Day, Temp, Rain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3163824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Depth: 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350215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93%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384048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on best feature at each node → class label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773168"/>
            <a:ext cx="8138160" cy="228600"/>
          </a:xfrm>
          <a:prstGeom prst="rect">
            <a:avLst/>
          </a:prstGeom>
          <a:solidFill>
            <a:srgbClr val="0A2E22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7316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Scoring Formula:   final_score = normalized_distance  +  busy_score   (Low=1, Medium=2, High=3)   →   Lowest score = Best station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926080" cy="256032"/>
          </a:xfrm>
          <a:prstGeom prst="rect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ACCURACY &amp; 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1920240"/>
          </a:xfrm>
          <a:prstGeom prst="rect">
            <a:avLst/>
          </a:prstGeom>
          <a:solidFill>
            <a:srgbClr val="0C1F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30352" y="2084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(lower = better)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965960" cy="1920240"/>
          </a:xfrm>
          <a:prstGeom prst="rect">
            <a:avLst/>
          </a:prstGeom>
          <a:solidFill>
            <a:srgbClr val="0C1F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3258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79192" y="2084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9192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965960" cy="1920240"/>
          </a:xfrm>
          <a:prstGeom prst="rect">
            <a:avLst/>
          </a:prstGeom>
          <a:solidFill>
            <a:srgbClr val="0C1F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3258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28032" y="2084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but realistic dataset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1188720"/>
            <a:ext cx="1965960" cy="1920240"/>
          </a:xfrm>
          <a:prstGeom prst="rect">
            <a:avLst/>
          </a:prstGeom>
          <a:solidFill>
            <a:srgbClr val="0C1F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3258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76872" y="20848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Stations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76872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56 cities, 19 states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vs Input Features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3611880"/>
          <a:ext cx="411480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484632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Metrics Table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611880"/>
          <a:ext cx="3840480" cy="13716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30712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30712"/>
                          </a:solidFill>
                        </a:rPr>
                        <a:t>RF Regressor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30712"/>
                          </a:solidFill>
                        </a:rPr>
                        <a:t>DT Classifier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Training Size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6,400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6,400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Test Size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1,600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1,600 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Key 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C98C"/>
                          </a:solidFill>
                        </a:rPr>
                        <a:t>MAE = 3.2%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A8E8"/>
                          </a:solidFill>
                        </a:rPr>
                        <a:t>Acc = 93%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Output 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Continuous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</a:rPr>
                        <a:t>3 Classes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F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468880" cy="256032"/>
          </a:xfrm>
          <a:prstGeom prst="rect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FIGURES &amp;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Outputs &amp; Visualizations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Availability % by Hour of Day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Busy Level Distribution</a:t>
            </a:r>
            <a:endParaRPr lang="en-US" sz="11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754880" y="1463040"/>
          <a:ext cx="39319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in Random Forest</a:t>
            </a:r>
            <a:endParaRPr lang="en-US" sz="11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457200" y="3886200"/>
          <a:ext cx="411480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4754880" y="3566160"/>
            <a:ext cx="3931920" cy="658368"/>
          </a:xfrm>
          <a:prstGeom prst="rect">
            <a:avLst/>
          </a:prstGeom>
          <a:solidFill>
            <a:srgbClr val="0C1F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4846320" y="362102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5349240" y="362102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 stations shown on live Leaflet map with color-coded markers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754880" y="4297680"/>
            <a:ext cx="3931920" cy="658368"/>
          </a:xfrm>
          <a:prstGeom prst="rect">
            <a:avLst/>
          </a:prstGeom>
          <a:solidFill>
            <a:srgbClr val="0C1F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846320" y="43525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🧭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5349240" y="435254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polyline drawn from user location to best station automatically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377440" cy="256032"/>
          </a:xfrm>
          <a:prstGeom prst="rect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TECHNOLOGY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965960" cy="1261872"/>
          </a:xfrm>
          <a:prstGeom prst="rect">
            <a:avLst/>
          </a:prstGeom>
          <a:solidFill>
            <a:srgbClr val="0D1C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1307592"/>
            <a:ext cx="658368" cy="658368"/>
          </a:xfrm>
          <a:prstGeom prst="ellipse">
            <a:avLst/>
          </a:prstGeom>
          <a:solidFill>
            <a:srgbClr val="0A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307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221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234440"/>
            <a:ext cx="1965960" cy="1261872"/>
          </a:xfrm>
          <a:prstGeom prst="rect">
            <a:avLst/>
          </a:prstGeom>
          <a:solidFill>
            <a:srgbClr val="0D1C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307592"/>
            <a:ext cx="658368" cy="658368"/>
          </a:xfrm>
          <a:prstGeom prst="ellipse">
            <a:avLst/>
          </a:prstGeom>
          <a:solidFill>
            <a:srgbClr val="0A1A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307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33472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33472" y="2221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backend server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1965960" cy="1261872"/>
          </a:xfrm>
          <a:prstGeom prst="rect">
            <a:avLst/>
          </a:prstGeom>
          <a:solidFill>
            <a:srgbClr val="0D1C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67528" y="1307592"/>
            <a:ext cx="658368" cy="658368"/>
          </a:xfrm>
          <a:prstGeom prst="ellipse">
            <a:avLst/>
          </a:prstGeom>
          <a:solidFill>
            <a:srgbClr val="0A1A2E"/>
          </a:solidFill>
          <a:ln w="19050">
            <a:solidFill>
              <a:srgbClr val="00C9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67528" y="1307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82312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2312" y="2221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Decision Tree models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0" y="1234440"/>
            <a:ext cx="1965960" cy="1261872"/>
          </a:xfrm>
          <a:prstGeom prst="rect">
            <a:avLst/>
          </a:prstGeom>
          <a:solidFill>
            <a:srgbClr val="0D1C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16368" y="1307592"/>
            <a:ext cx="658368" cy="658368"/>
          </a:xfrm>
          <a:prstGeom prst="ellipse">
            <a:avLst/>
          </a:prstGeom>
          <a:solidFill>
            <a:srgbClr val="0A1A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1307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31152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Pandas/NumPy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31152" y="2221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analysis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2651760"/>
            <a:ext cx="1965960" cy="1261872"/>
          </a:xfrm>
          <a:prstGeom prst="rect">
            <a:avLst/>
          </a:prstGeom>
          <a:solidFill>
            <a:srgbClr val="0D1C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69848" y="2724912"/>
            <a:ext cx="658368" cy="658368"/>
          </a:xfrm>
          <a:prstGeom prst="ellipse">
            <a:avLst/>
          </a:prstGeom>
          <a:solidFill>
            <a:srgbClr val="0A1A2E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27249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84632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with GPS markers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0" y="2651760"/>
            <a:ext cx="1965960" cy="1261872"/>
          </a:xfrm>
          <a:prstGeom prst="rect">
            <a:avLst/>
          </a:prstGeom>
          <a:solidFill>
            <a:srgbClr val="0D1C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2724912"/>
            <a:ext cx="658368" cy="658368"/>
          </a:xfrm>
          <a:prstGeom prst="ellipse">
            <a:avLst/>
          </a:prstGeom>
          <a:solidFill>
            <a:srgbClr val="0A1A2E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8688" y="27249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633472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33472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trend dashboard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651760"/>
            <a:ext cx="1965960" cy="1261872"/>
          </a:xfrm>
          <a:prstGeom prst="rect">
            <a:avLst/>
          </a:prstGeom>
          <a:solidFill>
            <a:srgbClr val="0D1C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67528" y="2724912"/>
            <a:ext cx="658368" cy="658368"/>
          </a:xfrm>
          <a:prstGeom prst="ellipse">
            <a:avLst/>
          </a:prstGeom>
          <a:solidFill>
            <a:srgbClr val="0A1A2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67528" y="27249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82312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82312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dark-theme frontend UI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58000" y="2651760"/>
            <a:ext cx="1965960" cy="1261872"/>
          </a:xfrm>
          <a:prstGeom prst="rect">
            <a:avLst/>
          </a:prstGeom>
          <a:solidFill>
            <a:srgbClr val="0D1C2E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16368" y="2724912"/>
            <a:ext cx="658368" cy="658368"/>
          </a:xfrm>
          <a:prstGeom prst="ellipse">
            <a:avLst/>
          </a:prstGeom>
          <a:solidFill>
            <a:srgbClr val="0A1A2E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16368" y="27249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931152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31152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stations, 8000 training rows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OUTCOME &amp; 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&amp; 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0" cy="3474720"/>
          </a:xfrm>
          <a:prstGeom prst="rect">
            <a:avLst/>
          </a:prstGeom>
          <a:solidFill>
            <a:srgbClr val="0C1F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Achieved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station discovery across India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07568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availability prediction with only 3.2% error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41401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accurate congestion classification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75234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charging time suggestions from AI output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09067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wait time per station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with route &amp; directions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deep-link for turn-by-turn navigation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1056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130+ stations, 56 cities, 19 states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1188720"/>
            <a:ext cx="3474720" cy="1600200"/>
          </a:xfrm>
          <a:prstGeom prst="rect">
            <a:avLst/>
          </a:prstGeom>
          <a:solidFill>
            <a:srgbClr val="0C1F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496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Conclusion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16916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successfully combines Machine Learning with real-time geolocation to solve EV range anxiety. The ML models are accurate, the UI is production-ready, and the coverage is all-India.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2926080"/>
            <a:ext cx="3474720" cy="1737360"/>
          </a:xfrm>
          <a:prstGeom prst="rect">
            <a:avLst/>
          </a:prstGeom>
          <a:solidFill>
            <a:srgbClr val="0C1F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9496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34290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station data via API integration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373075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 / iOS)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403250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 with charging history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433425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for better prediction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C98C"/>
          </a:solidFill>
          <a:ln w="12700">
            <a:solidFill>
              <a:srgbClr val="00C9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 |   Smart EV Charging Station Availability Prediction System   |  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EV Charging Station Availability Prediction System</dc:title>
  <dc:subject>PptxGenJS Presentation</dc:subject>
  <dc:creator>PptxGenJS</dc:creator>
  <cp:lastModifiedBy>PptxGenJS</cp:lastModifiedBy>
  <cp:revision>1</cp:revision>
  <dcterms:created xsi:type="dcterms:W3CDTF">2026-04-18T10:24:02Z</dcterms:created>
  <dcterms:modified xsi:type="dcterms:W3CDTF">2026-04-18T10:24:02Z</dcterms:modified>
</cp:coreProperties>
</file>